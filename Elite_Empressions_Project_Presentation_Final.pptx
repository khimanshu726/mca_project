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8" r:id="rId21"/>
    <p:sldId id="279" r:id="rId22"/>
    <p:sldId id="280" r:id="rId23"/>
    <p:sldId id="281" r:id="rId24"/>
    <p:sldId id="275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7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E89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463040" cy="365760"/>
          </a:xfrm>
          <a:prstGeom prst="roundRect">
            <a:avLst/>
          </a:prstGeom>
          <a:solidFill>
            <a:srgbClr val="23A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804672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PROJECT PPT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Elite Empressions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Printing Press E-Commerce &amp; Order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89611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F4F7FB"/>
                </a:solidFill>
                <a:latin typeface="Aptos"/>
              </a:rPr>
              <a:t>Prepared according to CAPOL601R01 Project Work &amp; Viva Voce Guidelines</a:t>
            </a:r>
            <a:endParaRPr lang="en-IN" sz="1600" b="0" dirty="0">
              <a:solidFill>
                <a:srgbClr val="F4F7FB"/>
              </a:solidFill>
              <a:latin typeface="Aptos"/>
            </a:endParaRPr>
          </a:p>
          <a:p>
            <a:pPr algn="l"/>
            <a:r>
              <a:rPr lang="en-IN" sz="1600" dirty="0">
                <a:solidFill>
                  <a:srgbClr val="F4F7FB"/>
                </a:solidFill>
                <a:latin typeface="Aptos"/>
              </a:rPr>
              <a:t>Submitted By – Himanshu Babu</a:t>
            </a:r>
            <a:endParaRPr sz="1600" b="0" dirty="0">
              <a:solidFill>
                <a:srgbClr val="F4F7FB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3429000"/>
            <a:ext cx="86868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5BCBAB"/>
                </a:solidFill>
                <a:latin typeface="Aptos"/>
              </a:rPr>
              <a:t>React + Vite + Express + JWT + Passport + Order APIs</a:t>
            </a:r>
            <a:endParaRPr lang="en-IN" sz="1400" b="0" dirty="0">
              <a:solidFill>
                <a:srgbClr val="5BCBAB"/>
              </a:solidFill>
              <a:latin typeface="Aptos"/>
            </a:endParaRPr>
          </a:p>
          <a:p>
            <a:pPr algn="l"/>
            <a:endParaRPr lang="en-IN" sz="1400" dirty="0">
              <a:solidFill>
                <a:srgbClr val="5BCBAB"/>
              </a:solidFill>
              <a:latin typeface="Aptos"/>
            </a:endParaRPr>
          </a:p>
          <a:p>
            <a:pPr algn="l"/>
            <a:endParaRPr sz="1400" b="0" dirty="0">
              <a:solidFill>
                <a:srgbClr val="5BCBAB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138160" y="960120"/>
            <a:ext cx="32461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94192" y="1234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2135"/>
                </a:solidFill>
                <a:latin typeface="Aptos"/>
              </a:rPr>
              <a:t>Presentation Highlights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39327" y="1691640"/>
            <a:ext cx="27432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>
                <a:solidFill>
                  <a:srgbClr val="1F2937"/>
                </a:solidFill>
                <a:latin typeface="Aptos"/>
              </a:defRPr>
            </a:pPr>
            <a:r>
              <a:t>Problem statement and abstract</a:t>
            </a:r>
          </a:p>
          <a:p>
            <a:pPr>
              <a:defRPr sz="1500">
                <a:solidFill>
                  <a:srgbClr val="1F2937"/>
                </a:solidFill>
                <a:latin typeface="Aptos"/>
              </a:defRPr>
            </a:pPr>
            <a:r>
              <a:t>Project plan and SRS</a:t>
            </a:r>
          </a:p>
          <a:p>
            <a:pPr>
              <a:defRPr sz="1500">
                <a:solidFill>
                  <a:srgbClr val="1F2937"/>
                </a:solidFill>
                <a:latin typeface="Aptos"/>
              </a:defRPr>
            </a:pPr>
            <a:r>
              <a:t>System analysis and design</a:t>
            </a:r>
          </a:p>
          <a:p>
            <a:pPr>
              <a:defRPr sz="1500">
                <a:solidFill>
                  <a:srgbClr val="1F2937"/>
                </a:solidFill>
                <a:latin typeface="Aptos"/>
              </a:defRPr>
            </a:pPr>
            <a:r>
              <a:t>Coding, testing, implementation</a:t>
            </a:r>
          </a:p>
          <a:p>
            <a:pPr>
              <a:defRPr sz="1500">
                <a:solidFill>
                  <a:srgbClr val="1F2937"/>
                </a:solidFill>
                <a:latin typeface="Aptos"/>
              </a:defRPr>
            </a:pPr>
            <a:r>
              <a:t>Future plans and conclusion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0080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C80"/>
                </a:solidFill>
                <a:latin typeface="Aptos"/>
              </a:rPr>
              <a:t>Elite Empressions | Project Work Viva Voce Presentation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08AAFBD-6178-2057-A4E5-2EFB60E096B4}"/>
              </a:ext>
            </a:extLst>
          </p:cNvPr>
          <p:cNvSpPr/>
          <p:nvPr/>
        </p:nvSpPr>
        <p:spPr>
          <a:xfrm>
            <a:off x="807721" y="3776472"/>
            <a:ext cx="4344382" cy="26243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2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F23986-21DD-C686-B75C-2D4E521C2194}"/>
              </a:ext>
            </a:extLst>
          </p:cNvPr>
          <p:cNvSpPr txBox="1"/>
          <p:nvPr/>
        </p:nvSpPr>
        <p:spPr>
          <a:xfrm>
            <a:off x="796408" y="3854245"/>
            <a:ext cx="4198378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>
                <a:latin typeface="Aptos"/>
              </a:rPr>
              <a:t>Course Code: CAPOL601R01</a:t>
            </a:r>
          </a:p>
          <a:p>
            <a:endParaRPr lang="en-IN" sz="1200" b="1" dirty="0">
              <a:latin typeface="Aptos"/>
            </a:endParaRPr>
          </a:p>
          <a:p>
            <a:r>
              <a:rPr lang="en-IN" sz="1200" b="1" dirty="0">
                <a:latin typeface="Aptos"/>
              </a:rPr>
              <a:t>Programme: MCA – Semester 4</a:t>
            </a:r>
          </a:p>
          <a:p>
            <a:endParaRPr lang="en-IN" sz="1200" b="1" dirty="0">
              <a:latin typeface="Aptos"/>
            </a:endParaRPr>
          </a:p>
          <a:p>
            <a:r>
              <a:rPr lang="en-IN" sz="1200" b="1" dirty="0">
                <a:latin typeface="Aptos"/>
              </a:rPr>
              <a:t> Register no:  24213110019</a:t>
            </a:r>
          </a:p>
          <a:p>
            <a:endParaRPr lang="en-IN" sz="1200" b="1" dirty="0">
              <a:latin typeface="Aptos"/>
            </a:endParaRPr>
          </a:p>
          <a:p>
            <a:r>
              <a:rPr lang="en-IN" sz="1200" b="1" dirty="0">
                <a:latin typeface="Aptos"/>
              </a:rPr>
              <a:t>Candidate Mobile: 9559145724</a:t>
            </a:r>
          </a:p>
          <a:p>
            <a:endParaRPr lang="en-IN" sz="1200" b="1" dirty="0">
              <a:latin typeface="Aptos"/>
            </a:endParaRPr>
          </a:p>
          <a:p>
            <a:r>
              <a:rPr lang="en-IN" sz="1200" b="1" dirty="0">
                <a:latin typeface="Aptos"/>
              </a:rPr>
              <a:t>Project Guide name:  Dr. Vishnika Veni S</a:t>
            </a:r>
          </a:p>
          <a:p>
            <a:endParaRPr lang="en-IN" sz="1200" b="1" dirty="0">
              <a:latin typeface="Aptos"/>
            </a:endParaRPr>
          </a:p>
          <a:p>
            <a:r>
              <a:rPr lang="en-IN" sz="1200" b="1" dirty="0">
                <a:latin typeface="Aptos"/>
              </a:rPr>
              <a:t>Guide Email id:  vishnikaveni@cse.sastra.edu</a:t>
            </a:r>
          </a:p>
          <a:p>
            <a:endParaRPr lang="en-IN" sz="1200" b="1" dirty="0">
              <a:latin typeface="Aptos"/>
            </a:endParaRPr>
          </a:p>
          <a:p>
            <a:r>
              <a:rPr lang="en-IN" sz="1200" b="1" dirty="0">
                <a:latin typeface="Aptos"/>
              </a:rPr>
              <a:t>Project Guide Mobile:  9952102224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23A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135"/>
                </a:solidFill>
                <a:latin typeface="Aptos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332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6C80"/>
                </a:solidFill>
                <a:latin typeface="Aptos"/>
              </a:rPr>
              <a:t>Overview of the application and its purpose.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54406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355080" y="1463040"/>
            <a:ext cx="52120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2135"/>
                </a:solidFill>
                <a:latin typeface="Aptos"/>
              </a:rPr>
              <a:t>Project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10312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F2937"/>
                </a:solidFill>
                <a:latin typeface="Aptos"/>
              </a:defRPr>
            </a:pPr>
            <a:r>
              <a:t>Elite Empressions is a print-shop web application for browsing, customizing, and ordering print products.</a:t>
            </a:r>
          </a:p>
          <a:p>
            <a:pPr>
              <a:defRPr sz="1600">
                <a:solidFill>
                  <a:srgbClr val="1F2937"/>
                </a:solidFill>
                <a:latin typeface="Aptos"/>
              </a:defRPr>
            </a:pPr>
            <a:r>
              <a:t>The system combines customer ordering and admin-side order management in one connected workflow.</a:t>
            </a:r>
          </a:p>
          <a:p>
            <a:pPr>
              <a:defRPr sz="1600">
                <a:solidFill>
                  <a:srgbClr val="1F2937"/>
                </a:solidFill>
                <a:latin typeface="Aptos"/>
              </a:defRPr>
            </a:pPr>
            <a:r>
              <a:t>Products include visiting cards, flyers, packaging, T-shirts, mugs, invitations, stationery, and banners.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1968" y="1737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2135"/>
                </a:solidFill>
                <a:latin typeface="Aptos"/>
              </a:rPr>
              <a:t>Why This Project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5392" y="2103120"/>
            <a:ext cx="4572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F2937"/>
                </a:solidFill>
                <a:latin typeface="Aptos"/>
              </a:defRPr>
            </a:pPr>
            <a:r>
              <a:t>Traditional print ordering is often manual, fragmented, and slow.</a:t>
            </a:r>
          </a:p>
          <a:p>
            <a:pPr>
              <a:defRPr sz="1600">
                <a:solidFill>
                  <a:srgbClr val="1F2937"/>
                </a:solidFill>
                <a:latin typeface="Aptos"/>
              </a:defRPr>
            </a:pPr>
            <a:r>
              <a:t>Customers need preview, customization, pricing clarity, and smoother checkout.</a:t>
            </a:r>
          </a:p>
          <a:p>
            <a:pPr>
              <a:defRPr sz="1600">
                <a:solidFill>
                  <a:srgbClr val="1F2937"/>
                </a:solidFill>
                <a:latin typeface="Aptos"/>
              </a:defRPr>
            </a:pPr>
            <a:r>
              <a:t>Admins need one place to manage orders, files, statuses, and customer details.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0080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C80"/>
                </a:solidFill>
                <a:latin typeface="Aptos"/>
              </a:rPr>
              <a:t>Assignment 2 | Introduction and project context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23A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135"/>
                </a:solidFill>
                <a:latin typeface="Aptos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332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6C80"/>
                </a:solidFill>
                <a:latin typeface="Aptos"/>
              </a:rPr>
              <a:t>The current printing press workflow is inefficient for both customers and administrators.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54406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355080" y="1463040"/>
            <a:ext cx="52120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2135"/>
                </a:solidFill>
                <a:latin typeface="Aptos"/>
              </a:rPr>
              <a:t>Existing Gaps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10312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F2937"/>
                </a:solidFill>
                <a:latin typeface="Aptos"/>
              </a:defRPr>
            </a:pPr>
            <a:r>
              <a:t>Customers cannot always preview or personalize products before placing orders.</a:t>
            </a:r>
          </a:p>
          <a:p>
            <a:pPr>
              <a:defRPr sz="1600">
                <a:solidFill>
                  <a:srgbClr val="1F2937"/>
                </a:solidFill>
                <a:latin typeface="Aptos"/>
              </a:defRPr>
            </a:pPr>
            <a:r>
              <a:t>Design files, delivery details, and payment notes are often collected inconsistently.</a:t>
            </a:r>
          </a:p>
          <a:p>
            <a:pPr>
              <a:defRPr sz="1600">
                <a:solidFill>
                  <a:srgbClr val="1F2937"/>
                </a:solidFill>
                <a:latin typeface="Aptos"/>
              </a:defRPr>
            </a:pPr>
            <a:r>
              <a:t>Admins spend extra time tracking order status and production information manually.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1968" y="1737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2135"/>
                </a:solidFill>
                <a:latin typeface="Aptos"/>
              </a:rPr>
              <a:t>Proposed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5392" y="2103120"/>
            <a:ext cx="4572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F2937"/>
                </a:solidFill>
                <a:latin typeface="Aptos"/>
              </a:defRPr>
            </a:pPr>
            <a:r>
              <a:t>A responsive storefront with guided product discovery and customization.</a:t>
            </a:r>
          </a:p>
          <a:p>
            <a:pPr>
              <a:defRPr sz="1600">
                <a:solidFill>
                  <a:srgbClr val="1F2937"/>
                </a:solidFill>
                <a:latin typeface="Aptos"/>
              </a:defRPr>
            </a:pPr>
            <a:r>
              <a:t>A unified cart and checkout flow for addresses, payments, and artwork uploads.</a:t>
            </a:r>
          </a:p>
          <a:p>
            <a:pPr>
              <a:defRPr sz="1600">
                <a:solidFill>
                  <a:srgbClr val="1F2937"/>
                </a:solidFill>
                <a:latin typeface="Aptos"/>
              </a:defRPr>
            </a:pPr>
            <a:r>
              <a:t>A secure admin dashboard to review, manage, and update the order lifecycle.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0080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C80"/>
                </a:solidFill>
                <a:latin typeface="Aptos"/>
              </a:rPr>
              <a:t>Assignment 2 | Problem definition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23A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135"/>
                </a:solidFill>
                <a:latin typeface="Aptos"/>
              </a:rPr>
              <a:t>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332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6C80"/>
                </a:solidFill>
                <a:latin typeface="Aptos"/>
              </a:rPr>
              <a:t>Summary of the implemented application and its academic scope.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54406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355080" y="1463040"/>
            <a:ext cx="52120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2135"/>
                </a:solidFill>
                <a:latin typeface="Aptos"/>
              </a:rPr>
              <a:t>Abstract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10312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F2937"/>
                </a:solidFill>
                <a:latin typeface="Aptos"/>
              </a:defRPr>
            </a:pPr>
            <a:r>
              <a:t>The project delivers a web-based order management system for a printing press using React, Vite, and Express.</a:t>
            </a:r>
          </a:p>
          <a:p>
            <a:pPr>
              <a:defRPr sz="1600">
                <a:solidFill>
                  <a:srgbClr val="1F2937"/>
                </a:solidFill>
                <a:latin typeface="Aptos"/>
              </a:defRPr>
            </a:pPr>
            <a:r>
              <a:t>Customers can browse products, upload designs, manage cart items, save addresses, and place orders.</a:t>
            </a:r>
          </a:p>
          <a:p>
            <a:pPr>
              <a:defRPr sz="1600">
                <a:solidFill>
                  <a:srgbClr val="1F2937"/>
                </a:solidFill>
                <a:latin typeface="Aptos"/>
              </a:defRPr>
            </a:pPr>
            <a:r>
              <a:t>Admins can authenticate, view incoming orders, download uploads, and update order status.</a:t>
            </a:r>
          </a:p>
          <a:p>
            <a:pPr>
              <a:defRPr sz="1600">
                <a:solidFill>
                  <a:srgbClr val="1F2937"/>
                </a:solidFill>
                <a:latin typeface="Aptos"/>
              </a:defRPr>
            </a:pPr>
            <a:r>
              <a:t>The system demonstrates practical integration of frontend, backend, validation, persistence, and authentication modules.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1968" y="1737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2135"/>
                </a:solidFill>
                <a:latin typeface="Aptos"/>
              </a:rPr>
              <a:t>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5392" y="2103120"/>
            <a:ext cx="4572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F2937"/>
                </a:solidFill>
                <a:latin typeface="Aptos"/>
              </a:defRPr>
            </a:pPr>
            <a:r>
              <a:t>Focuses on the core e-commerce workflow for a print service business.</a:t>
            </a:r>
          </a:p>
          <a:p>
            <a:pPr>
              <a:defRPr sz="1600">
                <a:solidFill>
                  <a:srgbClr val="1F2937"/>
                </a:solidFill>
                <a:latin typeface="Aptos"/>
              </a:defRPr>
            </a:pPr>
            <a:r>
              <a:t>Uses lightweight local storage and JSON-backed services for demonstration.</a:t>
            </a:r>
          </a:p>
          <a:p>
            <a:pPr>
              <a:defRPr sz="1600">
                <a:solidFill>
                  <a:srgbClr val="1F2937"/>
                </a:solidFill>
                <a:latin typeface="Aptos"/>
              </a:defRPr>
            </a:pPr>
            <a:r>
              <a:t>Designed so the current prototype can be extended into a production-ready solution later.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0080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C80"/>
                </a:solidFill>
                <a:latin typeface="Aptos"/>
              </a:rPr>
              <a:t>Assignment 1 | Project title and abstract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23A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135"/>
                </a:solidFill>
                <a:latin typeface="Aptos"/>
              </a:rPr>
              <a:t>Software Project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332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6C80"/>
                </a:solidFill>
                <a:latin typeface="Aptos"/>
              </a:rPr>
              <a:t>Development roadmap aligned to the review points in the guideline PDF.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2468880"/>
            <a:ext cx="658368" cy="658368"/>
          </a:xfrm>
          <a:prstGeom prst="ellipse">
            <a:avLst/>
          </a:prstGeom>
          <a:solidFill>
            <a:srgbClr val="23A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615184"/>
            <a:ext cx="6583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9202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1673352"/>
            <a:ext cx="1691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2135"/>
                </a:solidFill>
                <a:latin typeface="Aptos"/>
              </a:rPr>
              <a:t>Phase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3474720"/>
            <a:ext cx="2377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6928" y="3749039"/>
            <a:ext cx="2057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F2937"/>
                </a:solidFill>
                <a:latin typeface="Aptos"/>
              </a:rPr>
              <a:t>Requirement study, project title, abstract, and problem analysis</a:t>
            </a:r>
          </a:p>
        </p:txBody>
      </p:sp>
      <p:sp>
        <p:nvSpPr>
          <p:cNvPr id="11" name="Oval 10"/>
          <p:cNvSpPr/>
          <p:nvPr/>
        </p:nvSpPr>
        <p:spPr>
          <a:xfrm>
            <a:off x="3611879" y="2468880"/>
            <a:ext cx="658368" cy="658368"/>
          </a:xfrm>
          <a:prstGeom prst="ellipse">
            <a:avLst/>
          </a:prstGeom>
          <a:solidFill>
            <a:srgbClr val="5BC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11879" y="2615184"/>
            <a:ext cx="6583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8999" y="1417320"/>
            <a:ext cx="19202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38727" y="1673352"/>
            <a:ext cx="1691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2135"/>
                </a:solidFill>
                <a:latin typeface="Aptos"/>
              </a:rPr>
              <a:t>Phase 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399" y="3474720"/>
            <a:ext cx="2377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55847" y="3749039"/>
            <a:ext cx="2057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F2937"/>
                </a:solidFill>
                <a:latin typeface="Aptos"/>
              </a:rPr>
              <a:t>UI routing, catalog, customization module, cart, and checkout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0" y="2468880"/>
            <a:ext cx="658368" cy="658368"/>
          </a:xfrm>
          <a:prstGeom prst="ellipse">
            <a:avLst/>
          </a:prstGeom>
          <a:solidFill>
            <a:srgbClr val="66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0" y="2615184"/>
            <a:ext cx="6583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417320"/>
            <a:ext cx="19202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27648" y="1673352"/>
            <a:ext cx="1691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2135"/>
                </a:solidFill>
                <a:latin typeface="Aptos"/>
              </a:rPr>
              <a:t>Phase 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89320" y="3474720"/>
            <a:ext cx="2377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44768" y="3749039"/>
            <a:ext cx="2057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F2937"/>
                </a:solidFill>
                <a:latin typeface="Aptos"/>
              </a:rPr>
              <a:t>Order APIs, admin panel, auth flows, uploads, and persistence</a:t>
            </a:r>
          </a:p>
        </p:txBody>
      </p:sp>
      <p:sp>
        <p:nvSpPr>
          <p:cNvPr id="23" name="Oval 22"/>
          <p:cNvSpPr/>
          <p:nvPr/>
        </p:nvSpPr>
        <p:spPr>
          <a:xfrm>
            <a:off x="9189719" y="2468880"/>
            <a:ext cx="658368" cy="658368"/>
          </a:xfrm>
          <a:prstGeom prst="ellipse">
            <a:avLst/>
          </a:prstGeom>
          <a:solidFill>
            <a:srgbClr val="E89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89719" y="2615184"/>
            <a:ext cx="6583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06839" y="1417320"/>
            <a:ext cx="19202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16567" y="1673352"/>
            <a:ext cx="1691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2135"/>
                </a:solidFill>
                <a:latin typeface="Aptos"/>
              </a:rPr>
              <a:t>Phase 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78239" y="3474720"/>
            <a:ext cx="2377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933687" y="3749039"/>
            <a:ext cx="2057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F2937"/>
                </a:solidFill>
                <a:latin typeface="Aptos"/>
              </a:rPr>
              <a:t>Testing, debugging, documentation, and viva presentation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0080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C80"/>
                </a:solidFill>
                <a:latin typeface="Aptos"/>
              </a:rPr>
              <a:t>Review 1: analysis and planning | Review 2: design, coding, testing, implementation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23A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135"/>
                </a:solidFill>
                <a:latin typeface="Aptos"/>
              </a:rPr>
              <a:t>Software Requirement Specification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332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6C80"/>
                </a:solidFill>
                <a:latin typeface="Aptos"/>
              </a:rPr>
              <a:t>Core functional and non-functional requirements of the application.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54406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355080" y="1463040"/>
            <a:ext cx="52120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2135"/>
                </a:solidFill>
                <a:latin typeface="Aptos"/>
              </a:rPr>
              <a:t>Functional Requirements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10312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F2937"/>
                </a:solidFill>
                <a:latin typeface="Aptos"/>
              </a:defRPr>
            </a:pPr>
            <a:r>
              <a:t>Display product catalog with categories, images, prices, and detail pages.</a:t>
            </a:r>
          </a:p>
          <a:p>
            <a:pPr>
              <a:defRPr sz="1600">
                <a:solidFill>
                  <a:srgbClr val="1F2937"/>
                </a:solidFill>
                <a:latin typeface="Aptos"/>
              </a:defRPr>
            </a:pPr>
            <a:r>
              <a:t>Support customization preview, file upload, and order notes.</a:t>
            </a:r>
          </a:p>
          <a:p>
            <a:pPr>
              <a:defRPr sz="1600">
                <a:solidFill>
                  <a:srgbClr val="1F2937"/>
                </a:solidFill>
                <a:latin typeface="Aptos"/>
              </a:defRPr>
            </a:pPr>
            <a:r>
              <a:t>Maintain shared cart state with add, update, remove, and persistence.</a:t>
            </a:r>
          </a:p>
          <a:p>
            <a:pPr>
              <a:defRPr sz="1600">
                <a:solidFill>
                  <a:srgbClr val="1F2937"/>
                </a:solidFill>
                <a:latin typeface="Aptos"/>
              </a:defRPr>
            </a:pPr>
            <a:r>
              <a:t>Collect delivery details with address validation and city autocomplete.</a:t>
            </a:r>
          </a:p>
          <a:p>
            <a:pPr>
              <a:defRPr sz="1600">
                <a:solidFill>
                  <a:srgbClr val="1F2937"/>
                </a:solidFill>
                <a:latin typeface="Aptos"/>
              </a:defRPr>
            </a:pPr>
            <a:r>
              <a:t>Create orders and allow admin-side tracking and status updates.</a:t>
            </a:r>
          </a:p>
          <a:p>
            <a:pPr>
              <a:defRPr sz="1600">
                <a:solidFill>
                  <a:srgbClr val="1F2937"/>
                </a:solidFill>
                <a:latin typeface="Aptos"/>
              </a:defRPr>
            </a:pPr>
            <a:r>
              <a:t>Authenticate admins through email/password, OTP, and Google sign-in.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1968" y="1737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2135"/>
                </a:solidFill>
                <a:latin typeface="Aptos"/>
              </a:rPr>
              <a:t>Non-Functional Requirements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5392" y="2103120"/>
            <a:ext cx="4572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F2937"/>
                </a:solidFill>
                <a:latin typeface="Aptos"/>
              </a:defRPr>
            </a:pPr>
            <a:r>
              <a:t>Responsive design for desktop and mobile.</a:t>
            </a:r>
          </a:p>
          <a:p>
            <a:pPr>
              <a:defRPr sz="1600">
                <a:solidFill>
                  <a:srgbClr val="1F2937"/>
                </a:solidFill>
                <a:latin typeface="Aptos"/>
              </a:defRPr>
            </a:pPr>
            <a:r>
              <a:t>Secure password hashing and JWT-based route protection.</a:t>
            </a:r>
          </a:p>
          <a:p>
            <a:pPr>
              <a:defRPr sz="1600">
                <a:solidFill>
                  <a:srgbClr val="1F2937"/>
                </a:solidFill>
                <a:latin typeface="Aptos"/>
              </a:defRPr>
            </a:pPr>
            <a:r>
              <a:t>Predictable cart and checkout behavior with real-time validation.</a:t>
            </a:r>
          </a:p>
          <a:p>
            <a:pPr>
              <a:defRPr sz="1600">
                <a:solidFill>
                  <a:srgbClr val="1F2937"/>
                </a:solidFill>
                <a:latin typeface="Aptos"/>
              </a:defRPr>
            </a:pPr>
            <a:r>
              <a:t>Reusable components and modular project structure.</a:t>
            </a:r>
          </a:p>
          <a:p>
            <a:pPr>
              <a:defRPr sz="1600">
                <a:solidFill>
                  <a:srgbClr val="1F2937"/>
                </a:solidFill>
                <a:latin typeface="Aptos"/>
              </a:defRPr>
            </a:pPr>
            <a:r>
              <a:t>Accessible labels, alt text, and professional visual design.</a:t>
            </a:r>
          </a:p>
          <a:p>
            <a:pPr>
              <a:defRPr sz="1600">
                <a:solidFill>
                  <a:srgbClr val="1F2937"/>
                </a:solidFill>
                <a:latin typeface="Aptos"/>
              </a:defRPr>
            </a:pPr>
            <a:r>
              <a:t>Fast local development and easy future scalability.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0080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C80"/>
                </a:solidFill>
                <a:latin typeface="Aptos"/>
              </a:rPr>
              <a:t>Assignment 2 | SRS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23A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135"/>
                </a:solidFill>
                <a:latin typeface="Aptos"/>
              </a:rPr>
              <a:t>System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332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6C80"/>
                </a:solidFill>
                <a:latin typeface="Aptos"/>
              </a:rPr>
              <a:t>Use case view for customer ordering flow and admin order management.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48840"/>
            <a:ext cx="1554480" cy="1097280"/>
          </a:xfrm>
          <a:prstGeom prst="roundRect">
            <a:avLst/>
          </a:prstGeom>
          <a:solidFill>
            <a:srgbClr val="1A2135"/>
          </a:solidFill>
          <a:ln>
            <a:solidFill>
              <a:srgbClr val="1A21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2487168"/>
            <a:ext cx="1325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dirty="0">
                <a:solidFill>
                  <a:srgbClr val="FFFFFF"/>
                </a:solidFill>
                <a:latin typeface="Aptos"/>
              </a:rPr>
              <a:t>Customer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29800" y="2148840"/>
            <a:ext cx="1554480" cy="1097280"/>
          </a:xfrm>
          <a:prstGeom prst="roundRect">
            <a:avLst/>
          </a:prstGeom>
          <a:solidFill>
            <a:srgbClr val="2E3E5C"/>
          </a:solidFill>
          <a:ln>
            <a:solidFill>
              <a:srgbClr val="2E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939528" y="248716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Admin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1554480"/>
            <a:ext cx="1691640" cy="658368"/>
          </a:xfrm>
          <a:prstGeom prst="roundRect">
            <a:avLst/>
          </a:prstGeom>
          <a:solidFill>
            <a:srgbClr val="23A1A6"/>
          </a:solidFill>
          <a:ln>
            <a:solidFill>
              <a:srgbClr val="23A1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62072" y="1737360"/>
            <a:ext cx="15361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Browse Products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1554480"/>
            <a:ext cx="1691640" cy="658368"/>
          </a:xfrm>
          <a:prstGeom prst="roundRect">
            <a:avLst/>
          </a:prstGeom>
          <a:solidFill>
            <a:srgbClr val="23A1A6"/>
          </a:solidFill>
          <a:ln>
            <a:solidFill>
              <a:srgbClr val="23A1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36592" y="1737360"/>
            <a:ext cx="15361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Customize Product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7960" y="1554480"/>
            <a:ext cx="1691640" cy="658368"/>
          </a:xfrm>
          <a:prstGeom prst="roundRect">
            <a:avLst/>
          </a:prstGeom>
          <a:solidFill>
            <a:srgbClr val="23A1A6"/>
          </a:solidFill>
          <a:ln>
            <a:solidFill>
              <a:srgbClr val="23A1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11112" y="1737360"/>
            <a:ext cx="15361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Add to Cart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88920" y="2926080"/>
            <a:ext cx="1691640" cy="658368"/>
          </a:xfrm>
          <a:prstGeom prst="roundRect">
            <a:avLst/>
          </a:prstGeom>
          <a:solidFill>
            <a:srgbClr val="5BCBAB"/>
          </a:solidFill>
          <a:ln>
            <a:solidFill>
              <a:srgbClr val="5BCB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862072" y="3108960"/>
            <a:ext cx="15361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Place Order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63440" y="2926080"/>
            <a:ext cx="1691640" cy="658368"/>
          </a:xfrm>
          <a:prstGeom prst="roundRect">
            <a:avLst/>
          </a:prstGeom>
          <a:solidFill>
            <a:srgbClr val="5BCBAB"/>
          </a:solidFill>
          <a:ln>
            <a:solidFill>
              <a:srgbClr val="5BCB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36592" y="3108960"/>
            <a:ext cx="15361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Upload Design File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37960" y="2926080"/>
            <a:ext cx="1691640" cy="658368"/>
          </a:xfrm>
          <a:prstGeom prst="roundRect">
            <a:avLst/>
          </a:prstGeom>
          <a:solidFill>
            <a:srgbClr val="5BCBAB"/>
          </a:solidFill>
          <a:ln>
            <a:solidFill>
              <a:srgbClr val="5BCB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11112" y="3108960"/>
            <a:ext cx="15361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Track Status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03320" y="4297680"/>
            <a:ext cx="1691640" cy="658368"/>
          </a:xfrm>
          <a:prstGeom prst="roundRect">
            <a:avLst/>
          </a:prstGeom>
          <a:solidFill>
            <a:srgbClr val="E89237"/>
          </a:solidFill>
          <a:ln>
            <a:solidFill>
              <a:srgbClr val="E89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776472" y="4480560"/>
            <a:ext cx="15361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Review Orders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0" y="4297680"/>
            <a:ext cx="1691640" cy="658368"/>
          </a:xfrm>
          <a:prstGeom prst="roundRect">
            <a:avLst/>
          </a:prstGeom>
          <a:solidFill>
            <a:srgbClr val="E89237"/>
          </a:solidFill>
          <a:ln>
            <a:solidFill>
              <a:srgbClr val="E89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742432" y="4480560"/>
            <a:ext cx="15361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Update Order Stage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0080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C80"/>
                </a:solidFill>
                <a:latin typeface="Aptos"/>
              </a:rPr>
              <a:t>Actors: Customer and Admin | Core artifacts: products, cart, orders, and uploaded files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23A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135"/>
                </a:solidFill>
                <a:latin typeface="Aptos"/>
              </a:rPr>
              <a:t>Detailed Order Flow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332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6C80"/>
                </a:solidFill>
                <a:latin typeface="Aptos"/>
              </a:rPr>
              <a:t>Expanded customer-to-admin lifecycle for the Elite Empressions application.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114009"/>
            <a:ext cx="1097280" cy="795528"/>
          </a:xfrm>
          <a:prstGeom prst="roundRect">
            <a:avLst/>
          </a:prstGeom>
          <a:solidFill>
            <a:srgbClr val="23A1A6"/>
          </a:solidFill>
          <a:ln>
            <a:solidFill>
              <a:srgbClr val="23A1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221752"/>
            <a:ext cx="1005840" cy="2748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Browse
Products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40280" y="2114009"/>
            <a:ext cx="1097280" cy="775936"/>
          </a:xfrm>
          <a:prstGeom prst="roundRect">
            <a:avLst/>
          </a:prstGeom>
          <a:solidFill>
            <a:srgbClr val="66A6FF"/>
          </a:solidFill>
          <a:ln>
            <a:solidFill>
              <a:srgbClr val="66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86000" y="2221752"/>
            <a:ext cx="1005840" cy="2748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Aptos"/>
              </a:rPr>
              <a:t>Product
Details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2114009"/>
            <a:ext cx="1097280" cy="795528"/>
          </a:xfrm>
          <a:prstGeom prst="roundRect">
            <a:avLst/>
          </a:prstGeom>
          <a:solidFill>
            <a:srgbClr val="5BCBAB"/>
          </a:solidFill>
          <a:ln>
            <a:solidFill>
              <a:srgbClr val="5BCB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0" y="2221752"/>
            <a:ext cx="1005840" cy="2748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Aptos"/>
              </a:rPr>
              <a:t>Customize
and Upload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83480" y="2114009"/>
            <a:ext cx="1097280" cy="618302"/>
          </a:xfrm>
          <a:prstGeom prst="roundRect">
            <a:avLst/>
          </a:prstGeom>
          <a:solidFill>
            <a:srgbClr val="E89237"/>
          </a:solidFill>
          <a:ln>
            <a:solidFill>
              <a:srgbClr val="E89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0" y="2221752"/>
            <a:ext cx="1005840" cy="2748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Cart and
Checkout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54480" y="3805649"/>
            <a:ext cx="1097280" cy="618302"/>
          </a:xfrm>
          <a:prstGeom prst="roundRect">
            <a:avLst/>
          </a:prstGeom>
          <a:solidFill>
            <a:srgbClr val="CC5C5C"/>
          </a:solidFill>
          <a:ln>
            <a:solidFill>
              <a:srgbClr val="CC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600200" y="3913392"/>
            <a:ext cx="1005840" cy="2748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Create
Order API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3280" y="3805649"/>
            <a:ext cx="1097280" cy="618302"/>
          </a:xfrm>
          <a:prstGeom prst="roundRect">
            <a:avLst/>
          </a:prstGeom>
          <a:solidFill>
            <a:srgbClr val="2E3E5C"/>
          </a:solidFill>
          <a:ln>
            <a:solidFill>
              <a:srgbClr val="2E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29000" y="3913392"/>
            <a:ext cx="1005840" cy="2748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Admin
Dashboard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12080" y="3805649"/>
            <a:ext cx="1097280" cy="618302"/>
          </a:xfrm>
          <a:prstGeom prst="roundRect">
            <a:avLst/>
          </a:prstGeom>
          <a:solidFill>
            <a:srgbClr val="1A2135"/>
          </a:solidFill>
          <a:ln>
            <a:solidFill>
              <a:srgbClr val="1A21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57800" y="3913392"/>
            <a:ext cx="1005840" cy="2748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Status
Update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2354460"/>
            <a:ext cx="228600" cy="137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5C6C80"/>
                </a:solidFill>
                <a:latin typeface="Aptos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2354460"/>
            <a:ext cx="228600" cy="137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5C6C80"/>
                </a:solidFill>
                <a:latin typeface="Aptos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2354460"/>
            <a:ext cx="228600" cy="137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5C6C80"/>
                </a:solidFill>
                <a:latin typeface="Aptos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4046100"/>
            <a:ext cx="228600" cy="137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5C6C80"/>
                </a:solidFill>
                <a:latin typeface="Aptos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86200" y="4046100"/>
            <a:ext cx="228600" cy="137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5C6C80"/>
                </a:solidFill>
                <a:latin typeface="Aptos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0" y="2731590"/>
            <a:ext cx="320040" cy="20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5C6C80"/>
                </a:solidFill>
                <a:latin typeface="Aptos"/>
              </a:rPr>
              <a:t>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88920" y="1508760"/>
            <a:ext cx="14192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dirty="0">
                <a:solidFill>
                  <a:srgbClr val="1A2135"/>
                </a:solidFill>
                <a:latin typeface="Aptos"/>
              </a:rPr>
              <a:t>Customer Journey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46634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2135"/>
                </a:solidFill>
                <a:latin typeface="Aptos"/>
              </a:rPr>
              <a:t>Operations Journey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18120" y="1600200"/>
            <a:ext cx="3749039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092440" y="18288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2135"/>
                </a:solidFill>
                <a:latin typeface="Aptos"/>
              </a:rPr>
              <a:t>Diagram Highlights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2240280"/>
            <a:ext cx="306324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1F2937"/>
                </a:solidFill>
                <a:latin typeface="Aptos"/>
              </a:defRPr>
            </a:pPr>
            <a:r>
              <a:t>The diagram traces the journey from browsing products to final operational order closure.</a:t>
            </a:r>
          </a:p>
          <a:p>
            <a:pPr>
              <a:defRPr sz="1400">
                <a:solidFill>
                  <a:srgbClr val="1F2937"/>
                </a:solidFill>
                <a:latin typeface="Aptos"/>
              </a:defRPr>
            </a:pPr>
            <a:r>
              <a:t>A clear handoff is shown between customer activity and admin-side processing.</a:t>
            </a:r>
          </a:p>
          <a:p>
            <a:pPr>
              <a:defRPr sz="1400">
                <a:solidFill>
                  <a:srgbClr val="1F2937"/>
                </a:solidFill>
                <a:latin typeface="Aptos"/>
              </a:defRPr>
            </a:pPr>
            <a:r>
              <a:t>The flow matches the implemented checkout, order API, and admin dashboard lifecycle.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4206240"/>
            <a:ext cx="30632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1F2937"/>
                </a:solidFill>
                <a:latin typeface="Aptos"/>
              </a:defRPr>
            </a:pPr>
            <a:r>
              <a:t>This makes the viva explanation more concrete than a generic use-case sketch.</a:t>
            </a:r>
          </a:p>
          <a:p>
            <a:pPr>
              <a:defRPr sz="1400">
                <a:solidFill>
                  <a:srgbClr val="1F2937"/>
                </a:solidFill>
                <a:latin typeface="Aptos"/>
              </a:defRPr>
            </a:pPr>
            <a:r>
              <a:t>The visual structure follows the real routing and processing behavior of the app.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40080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C80"/>
                </a:solidFill>
                <a:latin typeface="Aptos"/>
              </a:rPr>
              <a:t>Expanded diagram view for viva explanation of complete order processing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23A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135"/>
                </a:solidFill>
                <a:latin typeface="Aptos"/>
              </a:rPr>
              <a:t>Design - Front 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332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6C80"/>
                </a:solidFill>
                <a:latin typeface="Aptos"/>
              </a:rPr>
              <a:t>Representative interface structure based on the implemented React application.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214884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1645920"/>
            <a:ext cx="2148840" cy="320040"/>
          </a:xfrm>
          <a:prstGeom prst="rect">
            <a:avLst/>
          </a:prstGeom>
          <a:solidFill>
            <a:srgbClr val="1A2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87552" y="2084831"/>
            <a:ext cx="1783080" cy="502920"/>
          </a:xfrm>
          <a:prstGeom prst="roundRect">
            <a:avLst/>
          </a:prstGeom>
          <a:solidFill>
            <a:srgbClr val="23A1A6"/>
          </a:solidFill>
          <a:ln>
            <a:solidFill>
              <a:srgbClr val="23A1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42416" y="224028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Home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7552" y="2761488"/>
            <a:ext cx="1783080" cy="475488"/>
          </a:xfrm>
          <a:prstGeom prst="roundRect">
            <a:avLst/>
          </a:prstGeom>
          <a:solidFill>
            <a:srgbClr val="F4F7FB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60704" y="2889504"/>
            <a:ext cx="16276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Aptos"/>
              </a:rPr>
              <a:t>Hero banner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7552" y="3364992"/>
            <a:ext cx="1783080" cy="475488"/>
          </a:xfrm>
          <a:prstGeom prst="roundRect">
            <a:avLst/>
          </a:prstGeom>
          <a:solidFill>
            <a:srgbClr val="F4F7FB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60704" y="3493008"/>
            <a:ext cx="16276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Aptos"/>
              </a:rPr>
              <a:t>Category grid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" y="3968496"/>
            <a:ext cx="1783080" cy="475488"/>
          </a:xfrm>
          <a:prstGeom prst="roundRect">
            <a:avLst/>
          </a:prstGeom>
          <a:solidFill>
            <a:srgbClr val="F4F7FB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60704" y="4096512"/>
            <a:ext cx="16276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Aptos"/>
              </a:rPr>
              <a:t>Quick navigation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11880" y="1645920"/>
            <a:ext cx="214884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11880" y="1645920"/>
            <a:ext cx="2148840" cy="320040"/>
          </a:xfrm>
          <a:prstGeom prst="rect">
            <a:avLst/>
          </a:prstGeom>
          <a:solidFill>
            <a:srgbClr val="1A2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776472" y="2084831"/>
            <a:ext cx="1783080" cy="502920"/>
          </a:xfrm>
          <a:prstGeom prst="roundRect">
            <a:avLst/>
          </a:prstGeom>
          <a:solidFill>
            <a:srgbClr val="66A6FF"/>
          </a:solidFill>
          <a:ln>
            <a:solidFill>
              <a:srgbClr val="66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831336" y="224028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Products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76472" y="2761488"/>
            <a:ext cx="1783080" cy="475488"/>
          </a:xfrm>
          <a:prstGeom prst="roundRect">
            <a:avLst/>
          </a:prstGeom>
          <a:solidFill>
            <a:srgbClr val="F4F7FB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849624" y="2889504"/>
            <a:ext cx="16276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Aptos"/>
              </a:rPr>
              <a:t>Product cards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76472" y="3364992"/>
            <a:ext cx="1783080" cy="475488"/>
          </a:xfrm>
          <a:prstGeom prst="roundRect">
            <a:avLst/>
          </a:prstGeom>
          <a:solidFill>
            <a:srgbClr val="F4F7FB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849624" y="3493008"/>
            <a:ext cx="16276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Aptos"/>
              </a:rPr>
              <a:t>Detail routing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76472" y="3968496"/>
            <a:ext cx="1783080" cy="475488"/>
          </a:xfrm>
          <a:prstGeom prst="roundRect">
            <a:avLst/>
          </a:prstGeom>
          <a:solidFill>
            <a:srgbClr val="F4F7FB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849624" y="4096512"/>
            <a:ext cx="16276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Aptos"/>
              </a:rPr>
              <a:t>Add to cart feedback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1645920"/>
            <a:ext cx="214884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400800" y="1645920"/>
            <a:ext cx="2148840" cy="320040"/>
          </a:xfrm>
          <a:prstGeom prst="rect">
            <a:avLst/>
          </a:prstGeom>
          <a:solidFill>
            <a:srgbClr val="1A2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565392" y="2084831"/>
            <a:ext cx="1783080" cy="502920"/>
          </a:xfrm>
          <a:prstGeom prst="roundRect">
            <a:avLst/>
          </a:prstGeom>
          <a:solidFill>
            <a:srgbClr val="5BCBAB"/>
          </a:solidFill>
          <a:ln>
            <a:solidFill>
              <a:srgbClr val="5BCB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20256" y="224028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Cart + Checkout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65392" y="2761488"/>
            <a:ext cx="1783080" cy="475488"/>
          </a:xfrm>
          <a:prstGeom prst="roundRect">
            <a:avLst/>
          </a:prstGeom>
          <a:solidFill>
            <a:srgbClr val="F4F7FB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38544" y="2889504"/>
            <a:ext cx="16276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Aptos"/>
              </a:rPr>
              <a:t>Address form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65392" y="3364992"/>
            <a:ext cx="1783080" cy="475488"/>
          </a:xfrm>
          <a:prstGeom prst="roundRect">
            <a:avLst/>
          </a:prstGeom>
          <a:solidFill>
            <a:srgbClr val="F4F7FB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638544" y="3493008"/>
            <a:ext cx="16276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Aptos"/>
              </a:rPr>
              <a:t>Payment options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65392" y="3968496"/>
            <a:ext cx="1783080" cy="475488"/>
          </a:xfrm>
          <a:prstGeom prst="roundRect">
            <a:avLst/>
          </a:prstGeom>
          <a:solidFill>
            <a:srgbClr val="F4F7FB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638544" y="4096512"/>
            <a:ext cx="16276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Aptos"/>
              </a:rPr>
              <a:t>Order summary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89720" y="1645920"/>
            <a:ext cx="214884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189720" y="1645920"/>
            <a:ext cx="2148840" cy="320040"/>
          </a:xfrm>
          <a:prstGeom prst="rect">
            <a:avLst/>
          </a:prstGeom>
          <a:solidFill>
            <a:srgbClr val="1A2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9354312" y="2084831"/>
            <a:ext cx="1783080" cy="502920"/>
          </a:xfrm>
          <a:prstGeom prst="roundRect">
            <a:avLst/>
          </a:prstGeom>
          <a:solidFill>
            <a:srgbClr val="E89237"/>
          </a:solidFill>
          <a:ln>
            <a:solidFill>
              <a:srgbClr val="E89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409176" y="224028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Admin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354312" y="2761488"/>
            <a:ext cx="1783080" cy="475488"/>
          </a:xfrm>
          <a:prstGeom prst="roundRect">
            <a:avLst/>
          </a:prstGeom>
          <a:solidFill>
            <a:srgbClr val="F4F7FB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427464" y="2889504"/>
            <a:ext cx="16276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Aptos"/>
              </a:rPr>
              <a:t>Order table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354312" y="3364992"/>
            <a:ext cx="1783080" cy="475488"/>
          </a:xfrm>
          <a:prstGeom prst="roundRect">
            <a:avLst/>
          </a:prstGeom>
          <a:solidFill>
            <a:srgbClr val="F4F7FB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427464" y="3493008"/>
            <a:ext cx="16276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Aptos"/>
              </a:rPr>
              <a:t>Filters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4312" y="3968496"/>
            <a:ext cx="1783080" cy="475488"/>
          </a:xfrm>
          <a:prstGeom prst="roundRect">
            <a:avLst/>
          </a:prstGeom>
          <a:solidFill>
            <a:srgbClr val="F4F7FB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427464" y="4096512"/>
            <a:ext cx="16276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Aptos"/>
              </a:rPr>
              <a:t>Status controls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640080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C80"/>
                </a:solidFill>
                <a:latin typeface="Aptos"/>
              </a:rPr>
              <a:t>React functional components, hooks, React Router, reusable UI cards, and shared context state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23A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135"/>
                </a:solidFill>
                <a:latin typeface="Aptos"/>
              </a:rPr>
              <a:t>Design - Back 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332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6C80"/>
                </a:solidFill>
                <a:latin typeface="Aptos"/>
              </a:rPr>
              <a:t>Server architecture and data flow of the Express-based order management system.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03120"/>
            <a:ext cx="1828800" cy="914400"/>
          </a:xfrm>
          <a:prstGeom prst="roundRect">
            <a:avLst/>
          </a:prstGeom>
          <a:solidFill>
            <a:srgbClr val="23A1A6"/>
          </a:solidFill>
          <a:ln>
            <a:solidFill>
              <a:srgbClr val="23A1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2304288"/>
            <a:ext cx="16824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React Client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54680" y="1234440"/>
            <a:ext cx="2103120" cy="914400"/>
          </a:xfrm>
          <a:prstGeom prst="roundRect">
            <a:avLst/>
          </a:prstGeom>
          <a:solidFill>
            <a:srgbClr val="66A6FF"/>
          </a:solidFill>
          <a:ln>
            <a:solidFill>
              <a:srgbClr val="66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27832" y="1435608"/>
            <a:ext cx="19568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Auth Routes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54680" y="2971800"/>
            <a:ext cx="2103120" cy="914400"/>
          </a:xfrm>
          <a:prstGeom prst="roundRect">
            <a:avLst/>
          </a:prstGeom>
          <a:solidFill>
            <a:srgbClr val="5BCBAB"/>
          </a:solidFill>
          <a:ln>
            <a:solidFill>
              <a:srgbClr val="5BCB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27832" y="3172968"/>
            <a:ext cx="19568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Order Routes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0" y="1234440"/>
            <a:ext cx="2240280" cy="914400"/>
          </a:xfrm>
          <a:prstGeom prst="roundRect">
            <a:avLst/>
          </a:prstGeom>
          <a:solidFill>
            <a:srgbClr val="E89237"/>
          </a:solidFill>
          <a:ln>
            <a:solidFill>
              <a:srgbClr val="E89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33872" y="1435608"/>
            <a:ext cx="20939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Controllers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60720" y="2971800"/>
            <a:ext cx="2240280" cy="914400"/>
          </a:xfrm>
          <a:prstGeom prst="roundRect">
            <a:avLst/>
          </a:prstGeom>
          <a:solidFill>
            <a:srgbClr val="CC5C5C"/>
          </a:solidFill>
          <a:ln>
            <a:solidFill>
              <a:srgbClr val="CC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33872" y="3172968"/>
            <a:ext cx="20939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Services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49640" y="1234440"/>
            <a:ext cx="2331720" cy="914400"/>
          </a:xfrm>
          <a:prstGeom prst="roundRect">
            <a:avLst/>
          </a:prstGeom>
          <a:solidFill>
            <a:srgbClr val="1A2135"/>
          </a:solidFill>
          <a:ln>
            <a:solidFill>
              <a:srgbClr val="1A21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22792" y="1435608"/>
            <a:ext cx="21854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users.json / orders.json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49640" y="2971800"/>
            <a:ext cx="2331720" cy="914400"/>
          </a:xfrm>
          <a:prstGeom prst="roundRect">
            <a:avLst/>
          </a:prstGeom>
          <a:solidFill>
            <a:srgbClr val="2E3E5C"/>
          </a:solidFill>
          <a:ln>
            <a:solidFill>
              <a:srgbClr val="2E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22792" y="3172968"/>
            <a:ext cx="21854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Uploads Folder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8920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2937"/>
                </a:solidFill>
                <a:latin typeface="Aptos"/>
              </a:rPr>
              <a:t>The backend exposes REST APIs, validates payloads, stores development data locally, handles file uploads with Multer, and protects admin endpoints using JWT middleware.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0080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C80"/>
                </a:solidFill>
                <a:latin typeface="Aptos"/>
              </a:rPr>
              <a:t>Node.js + Express 5 + Passport Google OAuth + bcryptjs + Multer + Nodemailer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23A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135"/>
                </a:solidFill>
                <a:latin typeface="Aptos"/>
              </a:rPr>
              <a:t>Detailed API and Architecture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332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6C80"/>
                </a:solidFill>
                <a:latin typeface="Aptos"/>
              </a:rPr>
              <a:t>Layered view of the frontend, API, service, and storage interactions.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920240"/>
            <a:ext cx="1325880" cy="2834640"/>
          </a:xfrm>
          <a:prstGeom prst="roundRect">
            <a:avLst/>
          </a:prstGeom>
          <a:solidFill>
            <a:srgbClr val="23A1A6"/>
          </a:solidFill>
          <a:ln>
            <a:solidFill>
              <a:srgbClr val="23A1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1832" y="2084831"/>
            <a:ext cx="1170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2450592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Home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862072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Products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3273552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Customize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3685032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Cart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4096512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Admin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06040" y="1920240"/>
            <a:ext cx="1325880" cy="2834640"/>
          </a:xfrm>
          <a:prstGeom prst="roundRect">
            <a:avLst/>
          </a:prstGeom>
          <a:solidFill>
            <a:srgbClr val="66A6FF"/>
          </a:solidFill>
          <a:ln>
            <a:solidFill>
              <a:srgbClr val="66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79192" y="2084831"/>
            <a:ext cx="1170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15768" y="2450592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/api/auth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15768" y="2862072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/api/orders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15768" y="3273552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/api/admin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1920240"/>
            <a:ext cx="1325880" cy="2834640"/>
          </a:xfrm>
          <a:prstGeom prst="roundRect">
            <a:avLst/>
          </a:prstGeom>
          <a:solidFill>
            <a:srgbClr val="E89237"/>
          </a:solidFill>
          <a:ln>
            <a:solidFill>
              <a:srgbClr val="E89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16552" y="2084831"/>
            <a:ext cx="1170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Controllers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3128" y="2450592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Auth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3128" y="2862072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Orders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3128" y="3273552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Validation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80760" y="1920240"/>
            <a:ext cx="1325880" cy="2834640"/>
          </a:xfrm>
          <a:prstGeom prst="roundRect">
            <a:avLst/>
          </a:prstGeom>
          <a:solidFill>
            <a:srgbClr val="CC5C5C"/>
          </a:solidFill>
          <a:ln>
            <a:solidFill>
              <a:srgbClr val="CC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53912" y="2084831"/>
            <a:ext cx="1170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Services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0488" y="2450592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User Store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90488" y="2862072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Order Store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90488" y="3273552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OTP Store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0488" y="3685032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Uploads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" y="4983480"/>
            <a:ext cx="2286000" cy="640080"/>
          </a:xfrm>
          <a:prstGeom prst="roundRect">
            <a:avLst/>
          </a:prstGeom>
          <a:solidFill>
            <a:srgbClr val="2E3E5C"/>
          </a:solidFill>
          <a:ln>
            <a:solidFill>
              <a:srgbClr val="2E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3337560" y="4983480"/>
            <a:ext cx="2286000" cy="640080"/>
          </a:xfrm>
          <a:prstGeom prst="roundRect">
            <a:avLst/>
          </a:prstGeom>
          <a:solidFill>
            <a:srgbClr val="2E3E5C"/>
          </a:solidFill>
          <a:ln>
            <a:solidFill>
              <a:srgbClr val="2E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5806440" y="4983480"/>
            <a:ext cx="1600200" cy="640080"/>
          </a:xfrm>
          <a:prstGeom prst="roundRect">
            <a:avLst/>
          </a:prstGeom>
          <a:solidFill>
            <a:srgbClr val="5BCBAB"/>
          </a:solidFill>
          <a:ln>
            <a:solidFill>
              <a:srgbClr val="5BCB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05840" y="5184648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users.json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4720" y="5184648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orders.json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25312" y="518464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uploads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3154680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5C6C80"/>
                </a:solidFill>
                <a:latin typeface="Aptos"/>
              </a:rP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77639" y="3154680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5C6C80"/>
                </a:solidFill>
                <a:latin typeface="Aptos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15000" y="3154680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5C6C80"/>
                </a:solidFill>
                <a:latin typeface="Aptos"/>
              </a:rPr>
              <a:t>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448056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5C6C80"/>
                </a:solidFill>
                <a:latin typeface="Aptos"/>
              </a:rPr>
              <a:t>↓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818120" y="1600200"/>
            <a:ext cx="3749039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092440" y="18288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2135"/>
                </a:solidFill>
                <a:latin typeface="Aptos"/>
              </a:rPr>
              <a:t>Architecture Highlights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01000" y="2338604"/>
            <a:ext cx="306324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1F2937"/>
                </a:solidFill>
                <a:latin typeface="Aptos"/>
              </a:defRPr>
            </a:pPr>
            <a:r>
              <a:rPr dirty="0"/>
              <a:t>The layered architecture separates frontend screens, API routes, controller logic, and persistence services.</a:t>
            </a:r>
          </a:p>
          <a:p>
            <a:pPr>
              <a:defRPr sz="1400">
                <a:solidFill>
                  <a:srgbClr val="1F2937"/>
                </a:solidFill>
                <a:latin typeface="Aptos"/>
              </a:defRPr>
            </a:pPr>
            <a:r>
              <a:rPr dirty="0"/>
              <a:t>Auth and order concerns are split cleanly, improving maintainability and debugging clarity.</a:t>
            </a:r>
          </a:p>
          <a:p>
            <a:pPr>
              <a:defRPr sz="1400">
                <a:solidFill>
                  <a:srgbClr val="1F2937"/>
                </a:solidFill>
                <a:latin typeface="Aptos"/>
              </a:defRPr>
            </a:pPr>
            <a:r>
              <a:rPr dirty="0"/>
              <a:t>The diagram reflects the actual modules used in the Express backend and React frontend.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01000" y="4503420"/>
            <a:ext cx="30632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1F2937"/>
                </a:solidFill>
                <a:latin typeface="Aptos"/>
              </a:defRPr>
            </a:pPr>
            <a:r>
              <a:rPr dirty="0"/>
              <a:t>This structure is easy to explain in viva and maps directly to implemented files and routes.</a:t>
            </a:r>
          </a:p>
          <a:p>
            <a:pPr>
              <a:defRPr sz="1400">
                <a:solidFill>
                  <a:srgbClr val="1F2937"/>
                </a:solidFill>
                <a:latin typeface="Aptos"/>
              </a:defRPr>
            </a:pPr>
            <a:r>
              <a:rPr dirty="0"/>
              <a:t>It also shows readiness for later migration to a production database.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640080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C80"/>
                </a:solidFill>
                <a:latin typeface="Aptos"/>
              </a:rPr>
              <a:t>Layered architecture slide for backend explanation in viva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23A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135"/>
                </a:solidFill>
                <a:latin typeface="Aptos"/>
              </a:rPr>
              <a:t>Interface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332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6C80"/>
                </a:solidFill>
                <a:latin typeface="Aptos"/>
              </a:rPr>
              <a:t>Major customer and admin interfaces implemented in the project.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54406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355080" y="1463040"/>
            <a:ext cx="52120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2135"/>
                </a:solidFill>
                <a:latin typeface="Aptos"/>
              </a:rPr>
              <a:t>Customer Interfaces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10312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F2937"/>
                </a:solidFill>
                <a:latin typeface="Aptos"/>
              </a:defRPr>
            </a:pPr>
            <a:r>
              <a:t>Home page with hero banner and category entry cards</a:t>
            </a:r>
          </a:p>
          <a:p>
            <a:pPr>
              <a:defRPr sz="1600">
                <a:solidFill>
                  <a:srgbClr val="1F2937"/>
                </a:solidFill>
                <a:latin typeface="Aptos"/>
              </a:defRPr>
            </a:pPr>
            <a:r>
              <a:t>Product list and detail pages with large images and gallery view</a:t>
            </a:r>
          </a:p>
          <a:p>
            <a:pPr>
              <a:defRPr sz="1600">
                <a:solidFill>
                  <a:srgbClr val="1F2937"/>
                </a:solidFill>
                <a:latin typeface="Aptos"/>
              </a:defRPr>
            </a:pPr>
            <a:r>
              <a:t>Customization page with upload preview and overlay support</a:t>
            </a:r>
          </a:p>
          <a:p>
            <a:pPr>
              <a:defRPr sz="1600">
                <a:solidFill>
                  <a:srgbClr val="1F2937"/>
                </a:solidFill>
                <a:latin typeface="Aptos"/>
              </a:defRPr>
            </a:pPr>
            <a:r>
              <a:t>Cart + checkout page with address book, payment, and order creation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1968" y="1737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2135"/>
                </a:solidFill>
                <a:latin typeface="Aptos"/>
              </a:rPr>
              <a:t>Admin Interfaces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5392" y="2103120"/>
            <a:ext cx="4572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F2937"/>
                </a:solidFill>
                <a:latin typeface="Aptos"/>
              </a:defRPr>
            </a:pPr>
            <a:r>
              <a:t>Login and registration with email, mobile OTP, and Google options</a:t>
            </a:r>
          </a:p>
          <a:p>
            <a:pPr>
              <a:defRPr sz="1600">
                <a:solidFill>
                  <a:srgbClr val="1F2937"/>
                </a:solidFill>
                <a:latin typeface="Aptos"/>
              </a:defRPr>
            </a:pPr>
            <a:r>
              <a:t>Protected order dashboard with filters and metrics</a:t>
            </a:r>
          </a:p>
          <a:p>
            <a:pPr>
              <a:defRPr sz="1600">
                <a:solidFill>
                  <a:srgbClr val="1F2937"/>
                </a:solidFill>
                <a:latin typeface="Aptos"/>
              </a:defRPr>
            </a:pPr>
            <a:r>
              <a:t>Detailed order panel with line items, payment state, and file download</a:t>
            </a:r>
          </a:p>
          <a:p>
            <a:pPr>
              <a:defRPr sz="1600">
                <a:solidFill>
                  <a:srgbClr val="1F2937"/>
                </a:solidFill>
                <a:latin typeface="Aptos"/>
              </a:defRPr>
            </a:pPr>
            <a:r>
              <a:t>Status controls for New, Processing, Completed, and Cancelled orders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0080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C80"/>
                </a:solidFill>
                <a:latin typeface="Aptos"/>
              </a:rPr>
              <a:t>Assignment 3 | Interface design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23A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135"/>
                </a:solidFill>
                <a:latin typeface="Aptos"/>
              </a:rPr>
              <a:t>Back End Design - Data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332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6C80"/>
                </a:solidFill>
                <a:latin typeface="Aptos"/>
              </a:rPr>
              <a:t>Logical structure of user, order, and OTP records.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33832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2135"/>
                </a:solidFill>
                <a:latin typeface="Aptos"/>
              </a:rPr>
              <a:t>User Record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94560"/>
            <a:ext cx="3017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1F2937"/>
                </a:solidFill>
                <a:latin typeface="Aptos"/>
              </a:defRPr>
            </a:pPr>
            <a:r>
              <a:t>id</a:t>
            </a:r>
          </a:p>
          <a:p>
            <a:pPr>
              <a:defRPr sz="1400">
                <a:solidFill>
                  <a:srgbClr val="1F2937"/>
                </a:solidFill>
                <a:latin typeface="Aptos"/>
              </a:defRPr>
            </a:pPr>
            <a:r>
              <a:t>email</a:t>
            </a:r>
          </a:p>
          <a:p>
            <a:pPr>
              <a:defRPr sz="1400">
                <a:solidFill>
                  <a:srgbClr val="1F2937"/>
                </a:solidFill>
                <a:latin typeface="Aptos"/>
              </a:defRPr>
            </a:pPr>
            <a:r>
              <a:t>mobile</a:t>
            </a:r>
          </a:p>
          <a:p>
            <a:pPr>
              <a:defRPr sz="1400">
                <a:solidFill>
                  <a:srgbClr val="1F2937"/>
                </a:solidFill>
                <a:latin typeface="Aptos"/>
              </a:defRPr>
            </a:pPr>
            <a:r>
              <a:t>password (hashed)</a:t>
            </a:r>
          </a:p>
          <a:p>
            <a:pPr>
              <a:defRPr sz="1400">
                <a:solidFill>
                  <a:srgbClr val="1F2937"/>
                </a:solidFill>
                <a:latin typeface="Aptos"/>
              </a:defRPr>
            </a:pPr>
            <a:r>
              <a:t>provider</a:t>
            </a:r>
          </a:p>
          <a:p>
            <a:pPr>
              <a:defRPr sz="1400">
                <a:solidFill>
                  <a:srgbClr val="1F2937"/>
                </a:solidFill>
                <a:latin typeface="Aptos"/>
              </a:defRPr>
            </a:pPr>
            <a:r>
              <a:t>role</a:t>
            </a:r>
          </a:p>
          <a:p>
            <a:pPr>
              <a:defRPr sz="1400">
                <a:solidFill>
                  <a:srgbClr val="1F2937"/>
                </a:solidFill>
                <a:latin typeface="Aptos"/>
              </a:defRPr>
            </a:pPr>
            <a:r>
              <a:t>createdAt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600200"/>
            <a:ext cx="37947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80" y="1828800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2135"/>
                </a:solidFill>
                <a:latin typeface="Aptos"/>
              </a:rPr>
              <a:t>Order Record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2194560"/>
            <a:ext cx="34290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1F2937"/>
                </a:solidFill>
                <a:latin typeface="Aptos"/>
              </a:defRPr>
            </a:pPr>
            <a:r>
              <a:t>orderId</a:t>
            </a:r>
          </a:p>
          <a:p>
            <a:pPr>
              <a:defRPr sz="1400">
                <a:solidFill>
                  <a:srgbClr val="1F2937"/>
                </a:solidFill>
                <a:latin typeface="Aptos"/>
              </a:defRPr>
            </a:pPr>
            <a:r>
              <a:t>customerName, phone, email</a:t>
            </a:r>
          </a:p>
          <a:p>
            <a:pPr>
              <a:defRPr sz="1400">
                <a:solidFill>
                  <a:srgbClr val="1F2937"/>
                </a:solidFill>
                <a:latin typeface="Aptos"/>
              </a:defRPr>
            </a:pPr>
            <a:r>
              <a:t>address fields</a:t>
            </a:r>
          </a:p>
          <a:p>
            <a:pPr>
              <a:defRPr sz="1400">
                <a:solidFill>
                  <a:srgbClr val="1F2937"/>
                </a:solidFill>
                <a:latin typeface="Aptos"/>
              </a:defRPr>
            </a:pPr>
            <a:r>
              <a:t>productName, quantity, price</a:t>
            </a:r>
          </a:p>
          <a:p>
            <a:pPr>
              <a:defRPr sz="1400">
                <a:solidFill>
                  <a:srgbClr val="1F2937"/>
                </a:solidFill>
                <a:latin typeface="Aptos"/>
              </a:defRPr>
            </a:pPr>
            <a:r>
              <a:t>uploadedFileURL</a:t>
            </a:r>
          </a:p>
          <a:p>
            <a:pPr>
              <a:defRPr sz="1400">
                <a:solidFill>
                  <a:srgbClr val="1F2937"/>
                </a:solidFill>
                <a:latin typeface="Aptos"/>
              </a:defRPr>
            </a:pPr>
            <a:r>
              <a:t>paymentStatus, orderStatus</a:t>
            </a:r>
          </a:p>
          <a:p>
            <a:pPr>
              <a:defRPr sz="1400">
                <a:solidFill>
                  <a:srgbClr val="1F2937"/>
                </a:solidFill>
                <a:latin typeface="Aptos"/>
              </a:defRPr>
            </a:pPr>
            <a:r>
              <a:t>lineItems, createdAt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41080" y="1600200"/>
            <a:ext cx="26974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869680" y="182880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2135"/>
                </a:solidFill>
                <a:latin typeface="Aptos"/>
              </a:rPr>
              <a:t>OTP Store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3960" y="2194560"/>
            <a:ext cx="23317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1F2937"/>
                </a:solidFill>
                <a:latin typeface="Aptos"/>
              </a:defRPr>
            </a:pPr>
            <a:r>
              <a:t>mobile</a:t>
            </a:r>
          </a:p>
          <a:p>
            <a:pPr>
              <a:defRPr sz="1400">
                <a:solidFill>
                  <a:srgbClr val="1F2937"/>
                </a:solidFill>
                <a:latin typeface="Aptos"/>
              </a:defRPr>
            </a:pPr>
            <a:r>
              <a:t>otp</a:t>
            </a:r>
          </a:p>
          <a:p>
            <a:pPr>
              <a:defRPr sz="1400">
                <a:solidFill>
                  <a:srgbClr val="1F2937"/>
                </a:solidFill>
                <a:latin typeface="Aptos"/>
              </a:defRPr>
            </a:pPr>
            <a:r>
              <a:t>expiresAt</a:t>
            </a:r>
          </a:p>
          <a:p>
            <a:pPr>
              <a:defRPr sz="1400">
                <a:solidFill>
                  <a:srgbClr val="1F2937"/>
                </a:solidFill>
                <a:latin typeface="Aptos"/>
              </a:defRPr>
            </a:pPr>
            <a:r>
              <a:t>request throttle</a:t>
            </a:r>
          </a:p>
          <a:p>
            <a:pPr>
              <a:defRPr sz="1400">
                <a:solidFill>
                  <a:srgbClr val="1F2937"/>
                </a:solidFill>
                <a:latin typeface="Aptos"/>
              </a:defRPr>
            </a:pPr>
            <a:r>
              <a:t>temporary memory storage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0080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C80"/>
                </a:solidFill>
                <a:latin typeface="Aptos"/>
              </a:rPr>
              <a:t>Current implementation uses local persistence and is ready for future database migration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7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69209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FFFFFF"/>
                </a:solidFill>
                <a:latin typeface="Aptos"/>
              </a:rPr>
              <a:t>Sample Code - Cart State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6012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4F7FB"/>
                </a:solidFill>
                <a:latin typeface="Aptos"/>
              </a:rPr>
              <a:t>Focused code snippet slide for the centralized cart logic used across listing, detail, and cart pages.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56692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508760"/>
            <a:ext cx="5669280" cy="347472"/>
          </a:xfrm>
          <a:prstGeom prst="rect">
            <a:avLst/>
          </a:prstGeom>
          <a:solidFill>
            <a:srgbClr val="23A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929384"/>
            <a:ext cx="54498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135"/>
                </a:solidFill>
                <a:latin typeface="Aptos"/>
              </a:rPr>
              <a:t>Reducer-based cart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50008"/>
            <a:ext cx="5394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ourier New"/>
              </a:rPr>
              <a:t>function addToCart(product) {
  if (item exists) {
    quantity = quantity + 1;
  } else {
    quantity = 1;
  }
}
function updateQuantity(id, action) {
  if (action === 'increment') quantity += 1;
  if (action === 'decrement' &amp;&amp; quantity === 1) remove item;
  else quantity -= 1;
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664208"/>
            <a:ext cx="4572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>
                <a:solidFill>
                  <a:srgbClr val="FFFFFF"/>
                </a:solidFill>
                <a:latin typeface="Aptos"/>
              </a:defRPr>
            </a:pPr>
            <a:r>
              <a:t>Centralized Context API plus reducer removed duplicate cart logic across pages.</a:t>
            </a:r>
          </a:p>
          <a:p>
            <a:pPr>
              <a:defRPr sz="1500">
                <a:solidFill>
                  <a:srgbClr val="FFFFFF"/>
                </a:solidFill>
                <a:latin typeface="Aptos"/>
              </a:defRPr>
            </a:pPr>
            <a:r>
              <a:t>Quantity changes are deterministic and always happen by plus or minus one.</a:t>
            </a:r>
          </a:p>
          <a:p>
            <a:pPr>
              <a:defRPr sz="1500">
                <a:solidFill>
                  <a:srgbClr val="FFFFFF"/>
                </a:solidFill>
                <a:latin typeface="Aptos"/>
              </a:defRPr>
            </a:pPr>
            <a:r>
              <a:t>localStorage persistence keeps the cart intact after refresh.</a:t>
            </a:r>
          </a:p>
          <a:p>
            <a:pPr>
              <a:defRPr sz="1500">
                <a:solidFill>
                  <a:srgbClr val="FFFFFF"/>
                </a:solidFill>
                <a:latin typeface="Aptos"/>
              </a:defRPr>
            </a:pPr>
            <a:r>
              <a:t>This solved the earlier inconsistent add-to-cart behavior.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C80"/>
                </a:solidFill>
                <a:latin typeface="Aptos"/>
              </a:rPr>
              <a:t>Assignment 3 | Code snippet focused on reliable cart behavior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7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71962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FFFFFF"/>
                </a:solidFill>
                <a:latin typeface="Aptos"/>
              </a:rPr>
              <a:t>Sample Code - Authentication and OTP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6012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4F7FB"/>
                </a:solidFill>
                <a:latin typeface="Aptos"/>
              </a:rPr>
              <a:t>Focused code snippet slide for email login, mobile OTP, and backend verification flow.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53035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508760"/>
            <a:ext cx="5303520" cy="347472"/>
          </a:xfrm>
          <a:prstGeom prst="rect">
            <a:avLst/>
          </a:prstGeom>
          <a:solidFill>
            <a:srgbClr val="E89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929384"/>
            <a:ext cx="50840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135"/>
                </a:solidFill>
                <a:latin typeface="Aptos"/>
              </a:rPr>
              <a:t>Backend OTP handlers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50008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ourier New"/>
              </a:rPr>
              <a:t>POST /auth/send-otp
validate mobile
otp = random 6 digits
saveOtpForMobile(mobile, otp)
sendOtpSms(mobile, otp)
POST /auth/verify-otp
verifyOtpForMobile(mobile, otp)
find or create user
issue JWT token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508760"/>
            <a:ext cx="50749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72200" y="1508760"/>
            <a:ext cx="5074920" cy="347472"/>
          </a:xfrm>
          <a:prstGeom prst="rect">
            <a:avLst/>
          </a:prstGeom>
          <a:solidFill>
            <a:srgbClr val="5BC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81928" y="1929384"/>
            <a:ext cx="48554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135"/>
                </a:solidFill>
                <a:latin typeface="Aptos"/>
              </a:rPr>
              <a:t>Frontend detection 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350008"/>
            <a:ext cx="4800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ourier New"/>
              </a:rPr>
              <a:t>if (identifier includes '@') {
  loginType = 'email';
  show password field;
} else if (identifier is numeric) {
  loginType = 'mobile';
  show OTP flow;
}
Google button -&gt; /api/auth/google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0080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C80"/>
                </a:solidFill>
                <a:latin typeface="Aptos"/>
              </a:rPr>
              <a:t>Assignment 3 | Code snippets for authentication logic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7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79" y="502920"/>
            <a:ext cx="84842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FFFFFF"/>
                </a:solidFill>
                <a:latin typeface="Aptos"/>
              </a:rPr>
              <a:t>Sample Code - Order 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6012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4F7FB"/>
                </a:solidFill>
                <a:latin typeface="Aptos"/>
              </a:rPr>
              <a:t>Focused code snippet slide for the checkout-to-order backend flow and status lifecycle.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56692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508760"/>
            <a:ext cx="5669280" cy="347472"/>
          </a:xfrm>
          <a:prstGeom prst="rect">
            <a:avLst/>
          </a:prstGeom>
          <a:solidFill>
            <a:srgbClr val="CC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929384"/>
            <a:ext cx="54498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135"/>
                </a:solidFill>
                <a:latin typeface="Aptos"/>
              </a:rPr>
              <a:t>POST /api/orders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50008"/>
            <a:ext cx="5394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ourier New"/>
              </a:rPr>
              <a:t>parse lineItems
validate customer + address + payment
calculate quantity and total price
set paymentStatus = Pending or Paid
create uploadedFileURL
create order record
send admin notification
return created order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664208"/>
            <a:ext cx="4572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>
                <a:solidFill>
                  <a:srgbClr val="FFFFFF"/>
                </a:solidFill>
                <a:latin typeface="Aptos"/>
              </a:defRPr>
            </a:pPr>
            <a:r>
              <a:t>Order lifecycle used in admin panel: New -&gt; Processing -&gt; Completed or Cancelled.</a:t>
            </a:r>
          </a:p>
          <a:p>
            <a:pPr>
              <a:defRPr sz="1500">
                <a:solidFill>
                  <a:srgbClr val="FFFFFF"/>
                </a:solidFill>
                <a:latin typeface="Aptos"/>
              </a:defRPr>
            </a:pPr>
            <a:r>
              <a:t>Uploaded PDF, PNG, and JPG files are linked with the order for admin access.</a:t>
            </a:r>
          </a:p>
          <a:p>
            <a:pPr>
              <a:defRPr sz="1500">
                <a:solidFill>
                  <a:srgbClr val="FFFFFF"/>
                </a:solidFill>
                <a:latin typeface="Aptos"/>
              </a:defRPr>
            </a:pPr>
            <a:r>
              <a:t>Payment status is derived from selected payment method during checkout.</a:t>
            </a:r>
          </a:p>
          <a:p>
            <a:pPr>
              <a:defRPr sz="1500">
                <a:solidFill>
                  <a:srgbClr val="FFFFFF"/>
                </a:solidFill>
                <a:latin typeface="Aptos"/>
              </a:defRPr>
            </a:pPr>
            <a:r>
              <a:t>This code connects customer checkout directly to business operations.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C80"/>
                </a:solidFill>
                <a:latin typeface="Aptos"/>
              </a:rPr>
              <a:t>Assignment 3 | Code snippet focused on order creation and status management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23A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135"/>
                </a:solidFill>
                <a:latin typeface="Aptos"/>
              </a:rPr>
              <a:t>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332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6C80"/>
                </a:solidFill>
                <a:latin typeface="Aptos"/>
              </a:rPr>
              <a:t>Validation and debugging coverage considered during development.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54406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355080" y="1463040"/>
            <a:ext cx="52120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2135"/>
                </a:solidFill>
                <a:latin typeface="Aptos"/>
              </a:rPr>
              <a:t>Testing Types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10312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F2937"/>
                </a:solidFill>
                <a:latin typeface="Aptos"/>
              </a:defRPr>
            </a:pPr>
            <a:r>
              <a:t>Unit testing of address validation, OTP payload checks, and cart quantity logic</a:t>
            </a:r>
          </a:p>
          <a:p>
            <a:pPr>
              <a:defRPr sz="1600">
                <a:solidFill>
                  <a:srgbClr val="1F2937"/>
                </a:solidFill>
                <a:latin typeface="Aptos"/>
              </a:defRPr>
            </a:pPr>
            <a:r>
              <a:t>Integration testing of checkout to order API, admin fetch, and order status updates</a:t>
            </a:r>
          </a:p>
          <a:p>
            <a:pPr>
              <a:defRPr sz="1600">
                <a:solidFill>
                  <a:srgbClr val="1F2937"/>
                </a:solidFill>
                <a:latin typeface="Aptos"/>
              </a:defRPr>
            </a:pPr>
            <a:r>
              <a:t>Form validation for name, phone, email, pincode, and file uploads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1968" y="1737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2135"/>
                </a:solidFill>
                <a:latin typeface="Aptos"/>
              </a:rPr>
              <a:t>Debugging Highlights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5392" y="2103120"/>
            <a:ext cx="4572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F2937"/>
                </a:solidFill>
                <a:latin typeface="Aptos"/>
              </a:defRPr>
            </a:pPr>
            <a:r>
              <a:t>Fixed inconsistent cart state and quantity increments across pages</a:t>
            </a:r>
          </a:p>
          <a:p>
            <a:pPr>
              <a:defRPr sz="1600">
                <a:solidFill>
                  <a:srgbClr val="1F2937"/>
                </a:solidFill>
                <a:latin typeface="Aptos"/>
              </a:defRPr>
            </a:pPr>
            <a:r>
              <a:t>Resolved address persistence issues after delete and refresh</a:t>
            </a:r>
          </a:p>
          <a:p>
            <a:pPr>
              <a:defRPr sz="1600">
                <a:solidFill>
                  <a:srgbClr val="1F2937"/>
                </a:solidFill>
                <a:latin typeface="Aptos"/>
              </a:defRPr>
            </a:pPr>
            <a:r>
              <a:t>Corrected Google OAuth and OTP route wiring and stale-server conflicts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0080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C80"/>
                </a:solidFill>
                <a:latin typeface="Aptos"/>
              </a:rPr>
              <a:t>Assignment 3 | Testing and validation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23A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97231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1A2135"/>
                </a:solidFill>
                <a:latin typeface="Aptos"/>
              </a:rPr>
              <a:t>Implementation, Problems Faced, and Lessons Learnt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332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6C80"/>
                </a:solidFill>
                <a:latin typeface="Aptos"/>
              </a:rPr>
              <a:t>Key outcomes and learnings collected during development.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54406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355080" y="1463040"/>
            <a:ext cx="52120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2135"/>
                </a:solidFill>
                <a:latin typeface="Aptos"/>
              </a:rPr>
              <a:t>Implementation Outcome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10312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F2937"/>
                </a:solidFill>
                <a:latin typeface="Aptos"/>
              </a:defRPr>
            </a:pPr>
            <a:r>
              <a:t>Built a working storefront with shared cart, checkout, and order placement flow</a:t>
            </a:r>
          </a:p>
          <a:p>
            <a:pPr>
              <a:defRPr sz="1600">
                <a:solidFill>
                  <a:srgbClr val="1F2937"/>
                </a:solidFill>
                <a:latin typeface="Aptos"/>
              </a:defRPr>
            </a:pPr>
            <a:r>
              <a:t>Integrated backend APIs for order creation, uploads, authentication, and admin management</a:t>
            </a:r>
          </a:p>
          <a:p>
            <a:pPr>
              <a:defRPr sz="1600">
                <a:solidFill>
                  <a:srgbClr val="1F2937"/>
                </a:solidFill>
                <a:latin typeface="Aptos"/>
              </a:defRPr>
            </a:pPr>
            <a:r>
              <a:t>Delivered a modular project structure with reusable components and maintainable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1968" y="1737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2135"/>
                </a:solidFill>
                <a:latin typeface="Aptos"/>
              </a:rPr>
              <a:t>Problems and Lessons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5392" y="2103120"/>
            <a:ext cx="4572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F2937"/>
                </a:solidFill>
                <a:latin typeface="Aptos"/>
              </a:defRPr>
            </a:pPr>
            <a:r>
              <a:t>State must be centralized to prevent duplicate cart logic and inconsistent behavior</a:t>
            </a:r>
          </a:p>
          <a:p>
            <a:pPr>
              <a:defRPr sz="1600">
                <a:solidFill>
                  <a:srgbClr val="1F2937"/>
                </a:solidFill>
                <a:latin typeface="Aptos"/>
              </a:defRPr>
            </a:pPr>
            <a:r>
              <a:t>Clear server logs and route verification reduce time spent debugging auth issues</a:t>
            </a:r>
          </a:p>
          <a:p>
            <a:pPr>
              <a:defRPr sz="1600">
                <a:solidFill>
                  <a:srgbClr val="1F2937"/>
                </a:solidFill>
                <a:latin typeface="Aptos"/>
              </a:defRPr>
            </a:pPr>
            <a:r>
              <a:t>Validation and persistence logic are as important as the visible UI in e-commerce flows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0080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C80"/>
                </a:solidFill>
                <a:latin typeface="Aptos"/>
              </a:rPr>
              <a:t>Assignment 3 | Implementation review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23A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135"/>
                </a:solidFill>
                <a:latin typeface="Aptos"/>
              </a:rPr>
              <a:t>Future Plans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332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6C80"/>
                </a:solidFill>
                <a:latin typeface="Aptos"/>
              </a:rPr>
              <a:t>Enhancements planned beyond the current implemented scope.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54406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355080" y="1463040"/>
            <a:ext cx="52120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2135"/>
                </a:solidFill>
                <a:latin typeface="Aptos"/>
              </a:rPr>
              <a:t>Enhancement Areas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10312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F2937"/>
                </a:solidFill>
                <a:latin typeface="Aptos"/>
              </a:defRPr>
            </a:pPr>
            <a:r>
              <a:t>Migrate local JSON stores to MongoDB or PostgreSQL</a:t>
            </a:r>
          </a:p>
          <a:p>
            <a:pPr>
              <a:defRPr sz="1600">
                <a:solidFill>
                  <a:srgbClr val="1F2937"/>
                </a:solidFill>
                <a:latin typeface="Aptos"/>
              </a:defRPr>
            </a:pPr>
            <a:r>
              <a:t>Integrate Razorpay or Stripe for real payments</a:t>
            </a:r>
          </a:p>
          <a:p>
            <a:pPr>
              <a:defRPr sz="1600">
                <a:solidFill>
                  <a:srgbClr val="1F2937"/>
                </a:solidFill>
                <a:latin typeface="Aptos"/>
              </a:defRPr>
            </a:pPr>
            <a:r>
              <a:t>Add advanced design editor tools and saved templates</a:t>
            </a:r>
          </a:p>
          <a:p>
            <a:pPr>
              <a:defRPr sz="1600">
                <a:solidFill>
                  <a:srgbClr val="1F2937"/>
                </a:solidFill>
                <a:latin typeface="Aptos"/>
              </a:defRPr>
            </a:pPr>
            <a:r>
              <a:t>Introduce analytics, invoice generation, and dispatch integration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1968" y="1737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2135"/>
                </a:solidFill>
                <a:latin typeface="Aptos"/>
              </a:rPr>
              <a:t>Expected Benefits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5392" y="2103120"/>
            <a:ext cx="4572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F2937"/>
                </a:solidFill>
                <a:latin typeface="Aptos"/>
              </a:defRPr>
            </a:pPr>
            <a:r>
              <a:t>Better scalability and production readiness</a:t>
            </a:r>
          </a:p>
          <a:p>
            <a:pPr>
              <a:defRPr sz="1600">
                <a:solidFill>
                  <a:srgbClr val="1F2937"/>
                </a:solidFill>
                <a:latin typeface="Aptos"/>
              </a:defRPr>
            </a:pPr>
            <a:r>
              <a:t>Improved customer trust with secure online payments</a:t>
            </a:r>
          </a:p>
          <a:p>
            <a:pPr>
              <a:defRPr sz="1600">
                <a:solidFill>
                  <a:srgbClr val="1F2937"/>
                </a:solidFill>
                <a:latin typeface="Aptos"/>
              </a:defRPr>
            </a:pPr>
            <a:r>
              <a:t>Stronger personalization and conversion rates</a:t>
            </a:r>
          </a:p>
          <a:p>
            <a:pPr>
              <a:defRPr sz="1600">
                <a:solidFill>
                  <a:srgbClr val="1F2937"/>
                </a:solidFill>
                <a:latin typeface="Aptos"/>
              </a:defRPr>
            </a:pPr>
            <a:r>
              <a:t>More efficient day-to-day operations for the print business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0080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C80"/>
                </a:solidFill>
                <a:latin typeface="Aptos"/>
              </a:rPr>
              <a:t>Assignment 3 | Future plans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0E4AF1-8123-0DD1-E124-2B666ABD2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81835FE-35F1-446B-B848-41320DB51381}"/>
              </a:ext>
            </a:extLst>
          </p:cNvPr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23A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884E71-0347-22F1-8DE0-4F9ACE3D0FA5}"/>
              </a:ext>
            </a:extLst>
          </p:cNvPr>
          <p:cNvSpPr txBox="1"/>
          <p:nvPr/>
        </p:nvSpPr>
        <p:spPr>
          <a:xfrm>
            <a:off x="640080" y="502920"/>
            <a:ext cx="82296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800" b="1" dirty="0">
                <a:solidFill>
                  <a:srgbClr val="1A2135"/>
                </a:solidFill>
                <a:latin typeface="Aptos"/>
              </a:rPr>
              <a:t>Code Snippets</a:t>
            </a:r>
          </a:p>
          <a:p>
            <a:pPr algn="l"/>
            <a:endParaRPr lang="en-IN" sz="2800" b="1" dirty="0">
              <a:solidFill>
                <a:srgbClr val="1A2135"/>
              </a:solidFill>
              <a:latin typeface="Aptos"/>
            </a:endParaRPr>
          </a:p>
          <a:p>
            <a:pPr algn="l"/>
            <a:endParaRPr sz="2800" b="1" dirty="0">
              <a:solidFill>
                <a:srgbClr val="1A2135"/>
              </a:solidFill>
              <a:latin typeface="Aptos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A0560F0-0223-9062-1274-641EA35662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419" y="1013003"/>
            <a:ext cx="10726994" cy="5594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715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36A7BA-1DCB-F0D1-3E07-34A77DB23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401F317-CCBE-CC2A-9B9D-7C84F2527D0E}"/>
              </a:ext>
            </a:extLst>
          </p:cNvPr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23A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26E917-849A-CC05-7B20-ED988C436D4D}"/>
              </a:ext>
            </a:extLst>
          </p:cNvPr>
          <p:cNvSpPr txBox="1"/>
          <p:nvPr/>
        </p:nvSpPr>
        <p:spPr>
          <a:xfrm>
            <a:off x="640080" y="502920"/>
            <a:ext cx="82296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800" b="1" dirty="0">
                <a:solidFill>
                  <a:srgbClr val="1A2135"/>
                </a:solidFill>
                <a:latin typeface="Aptos"/>
              </a:rPr>
              <a:t>Code Snippets</a:t>
            </a:r>
          </a:p>
          <a:p>
            <a:pPr algn="l"/>
            <a:endParaRPr lang="en-IN" sz="2800" b="1" dirty="0">
              <a:solidFill>
                <a:srgbClr val="1A2135"/>
              </a:solidFill>
              <a:latin typeface="Aptos"/>
            </a:endParaRPr>
          </a:p>
          <a:p>
            <a:pPr algn="l"/>
            <a:endParaRPr sz="2800" b="1" dirty="0">
              <a:solidFill>
                <a:srgbClr val="1A2135"/>
              </a:solidFill>
              <a:latin typeface="Apto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7360AB-60AC-FD77-FC9E-72E91A955D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1" y="924232"/>
            <a:ext cx="10911840" cy="5761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7905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B5997E-E6C9-85C5-FC6F-FE351C06A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CC96D88-CDEB-5002-D8C3-AC82F5302CFC}"/>
              </a:ext>
            </a:extLst>
          </p:cNvPr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23A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864EE1-02C0-7C24-AE80-93080B16D012}"/>
              </a:ext>
            </a:extLst>
          </p:cNvPr>
          <p:cNvSpPr txBox="1"/>
          <p:nvPr/>
        </p:nvSpPr>
        <p:spPr>
          <a:xfrm>
            <a:off x="640080" y="502920"/>
            <a:ext cx="82296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800" b="1" dirty="0">
                <a:solidFill>
                  <a:srgbClr val="1A2135"/>
                </a:solidFill>
                <a:latin typeface="Aptos"/>
              </a:rPr>
              <a:t>Code Snippets</a:t>
            </a:r>
          </a:p>
          <a:p>
            <a:pPr algn="l"/>
            <a:endParaRPr lang="en-IN" sz="2800" b="1" dirty="0">
              <a:solidFill>
                <a:srgbClr val="1A2135"/>
              </a:solidFill>
              <a:latin typeface="Aptos"/>
            </a:endParaRPr>
          </a:p>
          <a:p>
            <a:pPr algn="l"/>
            <a:endParaRPr sz="2800" b="1" dirty="0">
              <a:solidFill>
                <a:srgbClr val="1A2135"/>
              </a:solidFill>
              <a:latin typeface="Apto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E8821B-5456-7850-55B1-14C0C4438D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755" y="993058"/>
            <a:ext cx="10834165" cy="5661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0275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E15858-F908-6F1E-3298-75F78256B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7489AC7-5C83-3ED9-023A-91E56D61582B}"/>
              </a:ext>
            </a:extLst>
          </p:cNvPr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23A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AB9431-6B1D-8B6D-7E5F-F30CAF7F5505}"/>
              </a:ext>
            </a:extLst>
          </p:cNvPr>
          <p:cNvSpPr txBox="1"/>
          <p:nvPr/>
        </p:nvSpPr>
        <p:spPr>
          <a:xfrm>
            <a:off x="640080" y="502920"/>
            <a:ext cx="82296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800" b="1" dirty="0">
                <a:solidFill>
                  <a:srgbClr val="1A2135"/>
                </a:solidFill>
                <a:latin typeface="Aptos"/>
              </a:rPr>
              <a:t>Code Snippets</a:t>
            </a:r>
          </a:p>
          <a:p>
            <a:pPr algn="l"/>
            <a:endParaRPr lang="en-IN" sz="2800" b="1" dirty="0">
              <a:solidFill>
                <a:srgbClr val="1A2135"/>
              </a:solidFill>
              <a:latin typeface="Aptos"/>
            </a:endParaRPr>
          </a:p>
          <a:p>
            <a:pPr algn="l"/>
            <a:endParaRPr sz="2800" b="1" dirty="0">
              <a:solidFill>
                <a:srgbClr val="1A2135"/>
              </a:solidFill>
              <a:latin typeface="Apto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B522AB-C577-991D-3ED5-7F019ACE2E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925" y="1032386"/>
            <a:ext cx="10795819" cy="5511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6759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7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960120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91640"/>
            <a:ext cx="6400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4F7FB"/>
                </a:solidFill>
                <a:latin typeface="Aptos"/>
              </a:rPr>
              <a:t>Elite Empressions demonstrates a complete digital workflow for a modern printing press: product discovery, customization, cart and checkout, order creation, file handling, and admin-side order tracking.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8862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BCBAB"/>
                </a:solidFill>
                <a:latin typeface="Aptos"/>
              </a:rPr>
              <a:t>The project satisfies the guideline structure for analysis, design, coding, testing, implementation, future scope, and final presentation.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1143000"/>
            <a:ext cx="356616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65008" y="14173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2135"/>
                </a:solidFill>
                <a:latin typeface="Aptos"/>
              </a:rPr>
              <a:t>References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28431" y="18288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>
                <a:solidFill>
                  <a:srgbClr val="1F2937"/>
                </a:solidFill>
                <a:latin typeface="Aptos"/>
              </a:defRPr>
            </a:pPr>
            <a:r>
              <a:t>CAPOL601R01 Project Work &amp; Viva Voce Guidelines PDF</a:t>
            </a:r>
          </a:p>
          <a:p>
            <a:pPr>
              <a:defRPr sz="1500">
                <a:solidFill>
                  <a:srgbClr val="1F2937"/>
                </a:solidFill>
                <a:latin typeface="Aptos"/>
              </a:defRPr>
            </a:pPr>
            <a:r>
              <a:t>Elite Empressions source code and application modules</a:t>
            </a:r>
          </a:p>
          <a:p>
            <a:pPr>
              <a:defRPr sz="1500">
                <a:solidFill>
                  <a:srgbClr val="1F2937"/>
                </a:solidFill>
                <a:latin typeface="Aptos"/>
              </a:defRPr>
            </a:pPr>
            <a:r>
              <a:t>React, Vite, Express, Passport, and JWT documentation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4572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3A1A6"/>
                </a:solidFill>
                <a:latin typeface="Aptos"/>
              </a:rPr>
              <a:t>Thank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C80"/>
                </a:solidFill>
                <a:latin typeface="Aptos"/>
              </a:rPr>
              <a:t>Prepared for project work viva voce 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2132</Words>
  <Application>Microsoft Office PowerPoint</Application>
  <PresentationFormat>Widescreen</PresentationFormat>
  <Paragraphs>305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Aptos</vt:lpstr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Himanshu</cp:lastModifiedBy>
  <cp:revision>7</cp:revision>
  <dcterms:created xsi:type="dcterms:W3CDTF">2013-01-27T09:14:16Z</dcterms:created>
  <dcterms:modified xsi:type="dcterms:W3CDTF">2026-04-09T15:46:00Z</dcterms:modified>
  <cp:category/>
</cp:coreProperties>
</file>